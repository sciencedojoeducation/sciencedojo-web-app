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5875073c2b44a1" /><Relationship Type="http://schemas.openxmlformats.org/officeDocument/2006/relationships/extended-properties" Target="/docProps/app.xml" Id="R23d28111ac2a4ab7" /><Relationship Type="http://schemas.openxmlformats.org/officeDocument/2006/relationships/officeDocument" Target="/ppt/presentation.xml" Id="R56651f15e97447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8005bc468e411f"/>
  </p:sldMasterIdLst>
  <p:notesMasterIdLst>
    <p:notesMasterId xmlns:r="http://schemas.openxmlformats.org/officeDocument/2006/relationships" r:id="Rc7bd8f6a1d4b4cac"/>
  </p:notesMasterIdLst>
  <p:sldIdLst>
    <p:sldId xmlns:r="http://schemas.openxmlformats.org/officeDocument/2006/relationships" id="256" r:id="R44ae04d910304ff8"/>
    <p:sldId xmlns:r="http://schemas.openxmlformats.org/officeDocument/2006/relationships" id="257" r:id="R6e52484dd33242c1"/>
    <p:sldId xmlns:r="http://schemas.openxmlformats.org/officeDocument/2006/relationships" id="258" r:id="R4072216e7a5e47a7"/>
    <p:sldId xmlns:r="http://schemas.openxmlformats.org/officeDocument/2006/relationships" id="259" r:id="Rf4d7b5c641554541"/>
    <p:sldId xmlns:r="http://schemas.openxmlformats.org/officeDocument/2006/relationships" id="260" r:id="Rde42db120ae84faf"/>
    <p:sldId xmlns:r="http://schemas.openxmlformats.org/officeDocument/2006/relationships" id="261" r:id="R20b010e9779f4a06"/>
    <p:sldId xmlns:r="http://schemas.openxmlformats.org/officeDocument/2006/relationships" id="262" r:id="R53edf6b29fea4123"/>
    <p:sldId xmlns:r="http://schemas.openxmlformats.org/officeDocument/2006/relationships" id="263" r:id="R641344dd53884e0f"/>
    <p:sldId xmlns:r="http://schemas.openxmlformats.org/officeDocument/2006/relationships" id="264" r:id="R31771f3407334b7e"/>
    <p:sldId xmlns:r="http://schemas.openxmlformats.org/officeDocument/2006/relationships" id="265" r:id="R4d18c92f71bb4f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a67365d3984a79" /><Relationship Type="http://schemas.openxmlformats.org/officeDocument/2006/relationships/slideMaster" Target="/ppt/slideMasters/slideMaster1.xml" Id="R668005bc468e411f" /><Relationship Type="http://schemas.openxmlformats.org/officeDocument/2006/relationships/notesMaster" Target="/ppt/notesMasters/notesMaster1.xml" Id="Rc7bd8f6a1d4b4cac" /><Relationship Type="http://schemas.openxmlformats.org/officeDocument/2006/relationships/presProps" Target="/ppt/presProps.xml" Id="R4ad674a55dea4a06" /><Relationship Type="http://schemas.openxmlformats.org/officeDocument/2006/relationships/tableStyles" Target="/ppt/tableStyles.xml" Id="R6819f3cabb2546ea" /><Relationship Type="http://schemas.openxmlformats.org/officeDocument/2006/relationships/slide" Target="/ppt/slides/slide1.xml" Id="R44ae04d910304ff8" /><Relationship Type="http://schemas.openxmlformats.org/officeDocument/2006/relationships/slide" Target="/ppt/slides/slide2.xml" Id="R6e52484dd33242c1" /><Relationship Type="http://schemas.openxmlformats.org/officeDocument/2006/relationships/slide" Target="/ppt/slides/slide3.xml" Id="R4072216e7a5e47a7" /><Relationship Type="http://schemas.openxmlformats.org/officeDocument/2006/relationships/slide" Target="/ppt/slides/slide4.xml" Id="Rf4d7b5c641554541" /><Relationship Type="http://schemas.openxmlformats.org/officeDocument/2006/relationships/slide" Target="/ppt/slides/slide5.xml" Id="Rde42db120ae84faf" /><Relationship Type="http://schemas.openxmlformats.org/officeDocument/2006/relationships/slide" Target="/ppt/slides/slide6.xml" Id="R20b010e9779f4a06" /><Relationship Type="http://schemas.openxmlformats.org/officeDocument/2006/relationships/slide" Target="/ppt/slides/slide7.xml" Id="R53edf6b29fea4123" /><Relationship Type="http://schemas.openxmlformats.org/officeDocument/2006/relationships/slide" Target="/ppt/slides/slide8.xml" Id="R641344dd53884e0f" /><Relationship Type="http://schemas.openxmlformats.org/officeDocument/2006/relationships/slide" Target="/ppt/slides/slide9.xml" Id="R31771f3407334b7e" /><Relationship Type="http://schemas.openxmlformats.org/officeDocument/2006/relationships/slide" Target="/ppt/slides/slide10.xml" Id="R4d18c92f71bb4f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9998239aa549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5e176b1061499a" /><Relationship Type="http://schemas.openxmlformats.org/officeDocument/2006/relationships/notesMaster" Target="/ppt/notesMasters/notesMaster1.xml" Id="Rb6288ac55e014b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507395b0954043" /><Relationship Type="http://schemas.openxmlformats.org/officeDocument/2006/relationships/notesMaster" Target="/ppt/notesMasters/notesMaster1.xml" Id="Rca3d1858518844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f2088bba9e4ce1" /><Relationship Type="http://schemas.openxmlformats.org/officeDocument/2006/relationships/notesMaster" Target="/ppt/notesMasters/notesMaster1.xml" Id="Rbf32a347f92f45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1c47ec084042ca" /><Relationship Type="http://schemas.openxmlformats.org/officeDocument/2006/relationships/notesMaster" Target="/ppt/notesMasters/notesMaster1.xml" Id="Ra310d820f35e4e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ba99adc9a6474d" /><Relationship Type="http://schemas.openxmlformats.org/officeDocument/2006/relationships/notesMaster" Target="/ppt/notesMasters/notesMaster1.xml" Id="R807bc8b4c25844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d4c996e6c84dad" /><Relationship Type="http://schemas.openxmlformats.org/officeDocument/2006/relationships/notesMaster" Target="/ppt/notesMasters/notesMaster1.xml" Id="R20d8ead87e964f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6a3900c464458f" /><Relationship Type="http://schemas.openxmlformats.org/officeDocument/2006/relationships/notesMaster" Target="/ppt/notesMasters/notesMaster1.xml" Id="Rcad7f1dbcf8048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bea1a5bf964872" /><Relationship Type="http://schemas.openxmlformats.org/officeDocument/2006/relationships/notesMaster" Target="/ppt/notesMasters/notesMaster1.xml" Id="R73ecc60fe87c4c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3f7a1aa90a4b3b" /><Relationship Type="http://schemas.openxmlformats.org/officeDocument/2006/relationships/notesMaster" Target="/ppt/notesMasters/notesMaster1.xml" Id="Rba1940008bba40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180aefbc5e4eb3" /><Relationship Type="http://schemas.openxmlformats.org/officeDocument/2006/relationships/notesMaster" Target="/ppt/notesMasters/notesMaster1.xml" Id="Re632adff16fe4b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/Users/piumalmahawasala/Documents/Codex/sciencedojo-web-app/public/images/education-bg-minimal.png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/Users/piumalmahawasala/Documents/Codex/sciencedojo-web-app/SCIENCEDOJO_PRODUCT_REPORT.md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/Users/piumalmahawasala/Documents/Codex/sciencedojo-web-app/SCIENCEDOJO_PRODUCT_REPORT.md</a:t>
            </a:r>
          </a:p>
          <a:p xmlns:a="http://schemas.openxmlformats.org/drawingml/2006/main">
            <a:r>
              <a:t>- /Users/piumalmahawasala/Documents/Codex/sciencedojo-web-app/public/images/hero-tutor-student.png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/Users/piumalmahawasala/Documents/Codex/sciencedojo-web-app/SCIENCEDOJO_PRODUCT_REPORT.md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describes product capabilities observed in the repository, not traction or live-production usage.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/Users/piumalmahawasala/Documents/Codex/sciencedojo-web-app/SCIENCEDOJO_PRODUCT_REPORT.md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/Users/piumalmahawasala/Documents/Codex/sciencedojo-web-app/sql/012_platform_settings.sql</a:t>
            </a:r>
          </a:p>
          <a:p xmlns:a="http://schemas.openxmlformats.org/drawingml/2006/main">
            <a:r>
              <a:t>- /Users/piumalmahawasala/Documents/Codex/sciencedojo-web-app/app/focus-dojo/pricing/page.tsx</a:t>
            </a:r>
          </a:p>
          <a:p xmlns:a="http://schemas.openxmlformats.org/drawingml/2006/main">
            <a:r>
              <a:t>- /Users/piumalmahawasala/Documents/Codex/sciencedojo-web-app/SCIENCEDOJO_PRODUCT_REPORT.md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/Users/piumalmahawasala/Documents/Codex/sciencedojo-web-app/SCIENCEDOJO_PRODUCT_REPORT.md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/Users/piumalmahawasala/Documents/Codex/sciencedojo-web-app/SCIENCEDOJO_PRODUCT_REPORT.md</a:t>
            </a:r>
          </a:p>
          <a:p xmlns:a="http://schemas.openxmlformats.org/drawingml/2006/main">
            <a:r>
              <a:t>- /Users/piumalmahawasala/Documents/Codex/sciencedojo-web-app/public/images/cosmic-nebula.png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/Users/piumalmahawasala/Documents/Codex/sciencedojo-web-app/SCIENCEDOJO_PRODUCT_REPORT.md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/Users/piumalmahawasala/Documents/Codex/sciencedojo-web-app/SCIENCEDOJO_PRODUCT_REPORT.md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1ecb2e0c0f4c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e02ff27ab34e66" /><Relationship Type="http://schemas.openxmlformats.org/officeDocument/2006/relationships/slideLayout" Target="/ppt/slideLayouts/slideLayout1.xml" Id="R5f726e8997864d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726e8997864d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c9c6201144492" /><Relationship Type="http://schemas.openxmlformats.org/officeDocument/2006/relationships/image" Target="/ppt/media/image.jpeg" Id="R9ab7dbc1ba5444ef" /><Relationship Type="http://schemas.openxmlformats.org/officeDocument/2006/relationships/notesSlide" Target="/ppt/notesSlides/notesSlide1.xml" Id="R672eb627b5104d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25ee460e74892" /><Relationship Type="http://schemas.openxmlformats.org/officeDocument/2006/relationships/notesSlide" Target="/ppt/notesSlides/notesSlide2.xml" Id="R95e826e579d844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5265526d54b31" /><Relationship Type="http://schemas.openxmlformats.org/officeDocument/2006/relationships/image" Target="/ppt/media/image2.jpeg" Id="Ra73db738e843453d" /><Relationship Type="http://schemas.openxmlformats.org/officeDocument/2006/relationships/notesSlide" Target="/ppt/notesSlides/notesSlide3.xml" Id="R5646a08d84c640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447b7952a428b" /><Relationship Type="http://schemas.openxmlformats.org/officeDocument/2006/relationships/notesSlide" Target="/ppt/notesSlides/notesSlide4.xml" Id="R070c5e49ccf240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be9ba182a4fb8" /><Relationship Type="http://schemas.openxmlformats.org/officeDocument/2006/relationships/notesSlide" Target="/ppt/notesSlides/notesSlide5.xml" Id="Rdd80418d44d244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af135469340d1" /><Relationship Type="http://schemas.openxmlformats.org/officeDocument/2006/relationships/notesSlide" Target="/ppt/notesSlides/notesSlide6.xml" Id="R70c3f58ce4c84b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85dcada3248f2" /><Relationship Type="http://schemas.openxmlformats.org/officeDocument/2006/relationships/notesSlide" Target="/ppt/notesSlides/notesSlide7.xml" Id="Rcc8ecc103e3f44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06eafab604954" /><Relationship Type="http://schemas.openxmlformats.org/officeDocument/2006/relationships/image" Target="/ppt/media/image3.jpeg" Id="Rf081a6f5b9dc4284" /><Relationship Type="http://schemas.openxmlformats.org/officeDocument/2006/relationships/notesSlide" Target="/ppt/notesSlides/notesSlide8.xml" Id="R9451e05e886f40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dd3a639b7403d" /><Relationship Type="http://schemas.openxmlformats.org/officeDocument/2006/relationships/notesSlide" Target="/ppt/notesSlides/notesSlide9.xml" Id="R754bc393f6784f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721b6e2ec4aeb" /><Relationship Type="http://schemas.openxmlformats.org/officeDocument/2006/relationships/notesSlide" Target="/ppt/notesSlides/notesSlide10.xml" Id="R995e80c9acb24a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7F0D5CF0-C045-4A5B-ACBD-5A76B1D3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973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73E6"/>
                </a:solidFill>
                <a:latin typeface="Helvetica Neue"/>
                <a:ea typeface="Helvetica Neue"/>
                <a:cs typeface="Helvetica Neue"/>
              </a:rPr>
              <a:t>SCIENCEDOJO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E395FE2-B682-4737-AA91-C0C4A309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51911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8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Human-first STEM tutoring that continues between lessons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519569D-F26D-48DE-8DA3-6F2372F4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4857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370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37086"/>
                </a:solidFill>
                <a:latin typeface="Helvetica Neue"/>
                <a:ea typeface="Helvetica Neue"/>
                <a:cs typeface="Helvetica Neue"/>
              </a:rPr>
              <a:t>A structured learning system for students, parents, tutors, and education partners.</a:t>
            </a:r>
          </a:p>
        </p:txBody>
      </p:sp>
      <p:sp>
        <p:nvSpPr>
          <p:cNvPr id="4" name="accent-rule">
            <a:extLst xmlns:a="http://schemas.openxmlformats.org/drawingml/2006/main">
              <a:ext uri="{FF2B5EF4-FFF2-40B4-BE49-F238E27FC236}">
                <a16:creationId xmlns:a16="http://schemas.microsoft.com/office/drawing/2014/main" id="{C3A0A915-2F9E-4CDF-9D5E-133E713B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3C849E57-8048-43FD-87F4-DC7D9D40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370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086"/>
                </a:solidFill>
                <a:latin typeface="Helvetica Neue"/>
                <a:ea typeface="Helvetica Neue"/>
                <a:cs typeface="Helvetica Neue"/>
              </a:rPr>
              <a:t>General pitch deck  |  September 2026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7dbc1ba5444ef"/>
          <a:srcRect xmlns:a="http://schemas.openxmlformats.org/drawingml/2006/main" l="1846" t="0" r="18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467350" cy="5676900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</p:spTree>
    <p:extLst>
      <p:ext uri="{BB962C8B-B14F-4D97-AF65-F5344CB8AC3E}">
        <p14:creationId xmlns:p14="http://schemas.microsoft.com/office/powerpoint/2010/main" val="6940247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E57D328A-DAB1-42EA-8C2F-26B9C472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973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973E6"/>
                </a:solidFill>
                <a:latin typeface="Helvetica Neue"/>
                <a:ea typeface="Helvetica Neue"/>
                <a:cs typeface="Helvetica Neue"/>
              </a:rPr>
              <a:t>SCIENCEDOJO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A21BFE-76F3-4A1A-A608-77FB5529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625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Tutoring often stops exactly when learning needs continuity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71C36AFD-B799-404B-8D86-A4572A68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4502300-A139-4417-8590-5BB6BF18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6370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08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The student experience-label">
            <a:extLst xmlns:a="http://schemas.openxmlformats.org/drawingml/2006/main">
              <a:ext uri="{FF2B5EF4-FFF2-40B4-BE49-F238E27FC236}">
                <a16:creationId xmlns:a16="http://schemas.microsoft.com/office/drawing/2014/main" id="{7D473A37-0B1D-4C7A-BD62-0C262912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The student experience</a:t>
            </a:r>
          </a:p>
        </p:txBody>
      </p:sp>
      <p:sp>
        <p:nvSpPr>
          <p:cNvPr id="6" name="The student experience-body">
            <a:extLst xmlns:a="http://schemas.openxmlformats.org/drawingml/2006/main">
              <a:ext uri="{FF2B5EF4-FFF2-40B4-BE49-F238E27FC236}">
                <a16:creationId xmlns:a16="http://schemas.microsoft.com/office/drawing/2014/main" id="{C5DB9CD3-0632-4C8B-B652-F48F38AC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51435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A capable learner may leave a lesson with better understanding, then lose momentum because the next practice step is unclear or disconnected.</a:t>
            </a:r>
          </a:p>
        </p:txBody>
      </p:sp>
      <p:sp>
        <p:nvSpPr>
          <p:cNvPr id="7" name="The parent experience-label">
            <a:extLst xmlns:a="http://schemas.openxmlformats.org/drawingml/2006/main">
              <a:ext uri="{FF2B5EF4-FFF2-40B4-BE49-F238E27FC236}">
                <a16:creationId xmlns:a16="http://schemas.microsoft.com/office/drawing/2014/main" id="{0F2BA72F-F745-4E72-9309-A0F7E51E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145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The parent experience</a:t>
            </a:r>
          </a:p>
        </p:txBody>
      </p:sp>
      <p:sp>
        <p:nvSpPr>
          <p:cNvPr id="8" name="The parent experience-body">
            <a:extLst xmlns:a="http://schemas.openxmlformats.org/drawingml/2006/main">
              <a:ext uri="{FF2B5EF4-FFF2-40B4-BE49-F238E27FC236}">
                <a16:creationId xmlns:a16="http://schemas.microsoft.com/office/drawing/2014/main" id="{AF3B99A6-9AC0-4B6B-BCB6-ABA956F2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52700"/>
            <a:ext cx="51435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Families pay for individual sessions but may still lack a simple answer to three questions: what was covered, what comes next, and whether confidence is improving.</a:t>
            </a:r>
          </a:p>
        </p:txBody>
      </p:sp>
      <p:sp>
        <p:nvSpPr>
          <p:cNvPr id="9" name="problem-callout">
            <a:extLst xmlns:a="http://schemas.openxmlformats.org/drawingml/2006/main">
              <a:ext uri="{FF2B5EF4-FFF2-40B4-BE49-F238E27FC236}">
                <a16:creationId xmlns:a16="http://schemas.microsoft.com/office/drawing/2014/main" id="{EEF7F4BA-2D24-4309-AF08-BE6F2E3B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0934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4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blem-callout-text">
            <a:extLst xmlns:a="http://schemas.openxmlformats.org/drawingml/2006/main">
              <a:ext uri="{FF2B5EF4-FFF2-40B4-BE49-F238E27FC236}">
                <a16:creationId xmlns:a16="http://schemas.microsoft.com/office/drawing/2014/main" id="{A88CBA2C-02E3-424C-BEEE-49FE223E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gap is not access to another tool. It is an organised learning relationship.</a:t>
            </a:r>
          </a:p>
        </p:txBody>
      </p:sp>
    </p:spTree>
    <p:extLst>
      <p:ext uri="{BB962C8B-B14F-4D97-AF65-F5344CB8AC3E}">
        <p14:creationId xmlns:p14="http://schemas.microsoft.com/office/powerpoint/2010/main" val="16388424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4ABBFF9A-F1D0-4053-8A2F-19A0FD7E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973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973E6"/>
                </a:solidFill>
                <a:latin typeface="Helvetica Neue"/>
                <a:ea typeface="Helvetica Neue"/>
                <a:cs typeface="Helvetica Neue"/>
              </a:rPr>
              <a:t>SCIENCEDOJO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C3893A-E486-4735-BE6E-84D8AA52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625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ScienceDojo connects the human tutor to a structured learning loop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0655F3CD-BD54-4AE2-B2E8-326BBC81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5074762-6EF9-446C-85C1-A39CAECE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6370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08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solution-loop">
            <a:extLst xmlns:a="http://schemas.openxmlformats.org/drawingml/2006/main">
              <a:ext uri="{FF2B5EF4-FFF2-40B4-BE49-F238E27FC236}">
                <a16:creationId xmlns:a16="http://schemas.microsoft.com/office/drawing/2014/main" id="{76C88F2F-5E76-4C5B-8C5D-7BB05FE4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51435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Aft>
                <a:spcPts val="16"/>
              </a:spcAft>
              <a:buNone/>
              <a:defRPr sz="1575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1  Assess</a:t>
            </a:r>
            <a:r>
              <a:rPr sz="1575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 the learner and identify the right starting point.</a:t>
            </a:r>
          </a:p>
          <a:p xmlns:a="http://schemas.openxmlformats.org/drawingml/2006/main">
            <a:pPr>
              <a:lnSpc>
                <a:spcPct val="110000"/>
              </a:lnSpc>
              <a:spcAft>
                <a:spcPts val="16"/>
              </a:spcAft>
              <a:buNone/>
              <a:defRPr sz="1575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2  Teach</a:t>
            </a:r>
            <a:r>
              <a:rPr sz="1575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 through verified, relationship-led STEM tutoring.</a:t>
            </a:r>
          </a:p>
          <a:p xmlns:a="http://schemas.openxmlformats.org/drawingml/2006/main">
            <a:pPr>
              <a:lnSpc>
                <a:spcPct val="110000"/>
              </a:lnSpc>
              <a:spcAft>
                <a:spcPts val="16"/>
              </a:spcAft>
              <a:buNone/>
              <a:defRPr sz="1575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3  Continue</a:t>
            </a:r>
            <a:r>
              <a:rPr sz="1575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 with lesson notes, homework, messaging, and personalised Missions.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4  Show progress</a:t>
            </a:r>
            <a:r>
              <a:rPr sz="1575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 so students and parents know the next step.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db738e843453d"/>
          <a:srcRect xmlns:a="http://schemas.openxmlformats.org/drawingml/2006/main" l="0" t="12037" r="0" b="120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000250"/>
            <a:ext cx="5143500" cy="3905250"/>
          </a:xfrm>
          <a:prstGeom xmlns:a="http://schemas.openxmlformats.org/drawingml/2006/main" prst="roundRect">
            <a:avLst>
              <a:gd name="adj" fmla="val 3415"/>
            </a:avLst>
          </a:prstGeom>
        </p:spPr>
      </p:pic>
    </p:spTree>
    <p:extLst>
      <p:ext uri="{BB962C8B-B14F-4D97-AF65-F5344CB8AC3E}">
        <p14:creationId xmlns:p14="http://schemas.microsoft.com/office/powerpoint/2010/main" val="4135369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1BA82A42-0A36-475F-A12C-B4B82B22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973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973E6"/>
                </a:solidFill>
                <a:latin typeface="Helvetica Neue"/>
                <a:ea typeface="Helvetica Neue"/>
                <a:cs typeface="Helvetica Neue"/>
              </a:rPr>
              <a:t>SCIENCEDOJO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C8ADCF-F598-4F4E-BA26-C53C84E1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625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One journey links discovery, delivery, and follow-through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80C879A2-4B41-435A-87AE-95E155F0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8A901EF-99D5-448A-ADB4-F17ADA40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6370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08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85393FD1-979A-4D9A-AE33-1F93B482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FC4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C4C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8B656780-3FF3-4D25-94B2-F9D6447C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2057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Free assessment</a:t>
            </a:r>
          </a:p>
        </p:txBody>
      </p:sp>
      <p:sp>
        <p:nvSpPr>
          <p:cNvPr id="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366F7578-0E1C-407B-8387-C20446CD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1-body">
            <a:extLst xmlns:a="http://schemas.openxmlformats.org/drawingml/2006/main">
              <a:ext uri="{FF2B5EF4-FFF2-40B4-BE49-F238E27FC236}">
                <a16:creationId xmlns:a16="http://schemas.microsoft.com/office/drawing/2014/main" id="{740E30D9-B122-4B78-96E9-523EF333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2057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Understand needs and route the learner.</a:t>
            </a:r>
          </a:p>
        </p:txBody>
      </p:sp>
      <p:sp>
        <p:nvSpPr>
          <p:cNvPr id="9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A66C3909-0D9E-405C-AD2C-25F446D9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9075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FC4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C4C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BAF27BB3-1F5B-412A-B22F-E2944334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05100"/>
            <a:ext cx="2057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Tutor match</a:t>
            </a:r>
          </a:p>
        </p:txBody>
      </p:sp>
      <p:sp>
        <p:nvSpPr>
          <p:cNvPr id="11" name="accent-rule">
            <a:extLst xmlns:a="http://schemas.openxmlformats.org/drawingml/2006/main">
              <a:ext uri="{FF2B5EF4-FFF2-40B4-BE49-F238E27FC236}">
                <a16:creationId xmlns:a16="http://schemas.microsoft.com/office/drawing/2014/main" id="{43F991C9-D878-439E-9BFA-225CDBE8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242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2-body">
            <a:extLst xmlns:a="http://schemas.openxmlformats.org/drawingml/2006/main">
              <a:ext uri="{FF2B5EF4-FFF2-40B4-BE49-F238E27FC236}">
                <a16:creationId xmlns:a16="http://schemas.microsoft.com/office/drawing/2014/main" id="{FD02E0A1-EE56-48D0-ACD1-8D645DB7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90950"/>
            <a:ext cx="2057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Select, book, and confirm the right support.</a:t>
            </a:r>
          </a:p>
        </p:txBody>
      </p:sp>
      <p:sp>
        <p:nvSpPr>
          <p:cNvPr id="13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3D524478-D144-4748-AF6C-0CD85B82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9075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FC4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C4C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69B681B3-0705-4F3D-AF82-DDF5B2D9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05100"/>
            <a:ext cx="2057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Live lesson</a:t>
            </a:r>
          </a:p>
        </p:txBody>
      </p:sp>
      <p:sp>
        <p:nvSpPr>
          <p:cNvPr id="1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58DC5B60-E192-4529-83E4-52B46B4D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242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ep-3-body">
            <a:extLst xmlns:a="http://schemas.openxmlformats.org/drawingml/2006/main">
              <a:ext uri="{FF2B5EF4-FFF2-40B4-BE49-F238E27FC236}">
                <a16:creationId xmlns:a16="http://schemas.microsoft.com/office/drawing/2014/main" id="{5131B9D1-3102-4B27-8FC9-261EC400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90950"/>
            <a:ext cx="2057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Teach with class tools and structured records.</a:t>
            </a:r>
          </a:p>
        </p:txBody>
      </p:sp>
      <p:sp>
        <p:nvSpPr>
          <p:cNvPr id="17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5ECB73ED-CC52-4D45-9C6E-39176DEF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9075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FC4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C4C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81BADCCC-2829-4298-87FF-D19E5C69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05100"/>
            <a:ext cx="2057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Between lessons</a:t>
            </a:r>
          </a:p>
        </p:txBody>
      </p:sp>
      <p:sp>
        <p:nvSpPr>
          <p:cNvPr id="19" name="accent-rule">
            <a:extLst xmlns:a="http://schemas.openxmlformats.org/drawingml/2006/main">
              <a:ext uri="{FF2B5EF4-FFF2-40B4-BE49-F238E27FC236}">
                <a16:creationId xmlns:a16="http://schemas.microsoft.com/office/drawing/2014/main" id="{9F09CEF8-6E30-4A76-AAA3-2A751B4E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242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-4-body">
            <a:extLst xmlns:a="http://schemas.openxmlformats.org/drawingml/2006/main">
              <a:ext uri="{FF2B5EF4-FFF2-40B4-BE49-F238E27FC236}">
                <a16:creationId xmlns:a16="http://schemas.microsoft.com/office/drawing/2014/main" id="{A3396E63-729C-4CBF-AC24-FEF838E7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90950"/>
            <a:ext cx="2057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Homework, Practice Dojo, and Missions.</a:t>
            </a:r>
          </a:p>
        </p:txBody>
      </p:sp>
      <p:sp>
        <p:nvSpPr>
          <p:cNvPr id="21" name="step-5-number">
            <a:extLst xmlns:a="http://schemas.openxmlformats.org/drawingml/2006/main">
              <a:ext uri="{FF2B5EF4-FFF2-40B4-BE49-F238E27FC236}">
                <a16:creationId xmlns:a16="http://schemas.microsoft.com/office/drawing/2014/main" id="{8D167D5F-A377-4879-958E-D28B52F1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9075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FC4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C4C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step-5-title">
            <a:extLst xmlns:a="http://schemas.openxmlformats.org/drawingml/2006/main">
              <a:ext uri="{FF2B5EF4-FFF2-40B4-BE49-F238E27FC236}">
                <a16:creationId xmlns:a16="http://schemas.microsoft.com/office/drawing/2014/main" id="{13C3ED56-8E07-42CC-8A3F-4496D22B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05100"/>
            <a:ext cx="2057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Visible progress</a:t>
            </a:r>
          </a:p>
        </p:txBody>
      </p:sp>
      <p:sp>
        <p:nvSpPr>
          <p:cNvPr id="2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7CA0AAFF-8CAD-4389-8286-EBD8EB40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2425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tep-5-body">
            <a:extLst xmlns:a="http://schemas.openxmlformats.org/drawingml/2006/main">
              <a:ext uri="{FF2B5EF4-FFF2-40B4-BE49-F238E27FC236}">
                <a16:creationId xmlns:a16="http://schemas.microsoft.com/office/drawing/2014/main" id="{7C7CA1DD-584A-4AE6-87EC-D8B28043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90950"/>
            <a:ext cx="2057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Tutor feedback, parent clarity, and the next step.</a:t>
            </a:r>
          </a:p>
        </p:txBody>
      </p:sp>
      <p:sp>
        <p:nvSpPr>
          <p:cNvPr id="25" name="workflow-callout">
            <a:extLst xmlns:a="http://schemas.openxmlformats.org/drawingml/2006/main">
              <a:ext uri="{FF2B5EF4-FFF2-40B4-BE49-F238E27FC236}">
                <a16:creationId xmlns:a16="http://schemas.microsoft.com/office/drawing/2014/main" id="{0E1CA39F-E543-4347-A544-5B7A2927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3973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973E6"/>
                </a:solidFill>
                <a:latin typeface="Helvetica Neue"/>
                <a:ea typeface="Helvetica Neue"/>
                <a:cs typeface="Helvetica Neue"/>
              </a:rPr>
              <a:t>Every completed lesson creates context for the next learning action.</a:t>
            </a:r>
          </a:p>
        </p:txBody>
      </p:sp>
    </p:spTree>
    <p:extLst>
      <p:ext uri="{BB962C8B-B14F-4D97-AF65-F5344CB8AC3E}">
        <p14:creationId xmlns:p14="http://schemas.microsoft.com/office/powerpoint/2010/main" val="10524153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D65B9C6C-61B0-454A-B851-F9B66992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973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973E6"/>
                </a:solidFill>
                <a:latin typeface="Helvetica Neue"/>
                <a:ea typeface="Helvetica Neue"/>
                <a:cs typeface="Helvetica Neue"/>
              </a:rPr>
              <a:t>SCIENCEDOJO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4ABEB4-7CA4-428E-A62C-066DF718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625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The product foundation is already broader than a booking marketplace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1C83EFB8-70F1-4A36-AE84-47321EA1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A282ABE-88E0-4E6C-8A8E-FD8BF1F6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6370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08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Learning-panel">
            <a:extLst xmlns:a="http://schemas.openxmlformats.org/drawingml/2006/main">
              <a:ext uri="{FF2B5EF4-FFF2-40B4-BE49-F238E27FC236}">
                <a16:creationId xmlns:a16="http://schemas.microsoft.com/office/drawing/2014/main" id="{C7842153-44D1-4D84-BD94-1CAF5503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BFB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6" name="Learning-label">
            <a:extLst xmlns:a="http://schemas.openxmlformats.org/drawingml/2006/main">
              <a:ext uri="{FF2B5EF4-FFF2-40B4-BE49-F238E27FC236}">
                <a16:creationId xmlns:a16="http://schemas.microsoft.com/office/drawing/2014/main" id="{E38DAAB8-1186-4D2A-A4AA-27C86F04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Learning</a:t>
            </a:r>
          </a:p>
        </p:txBody>
      </p:sp>
      <p:sp>
        <p:nvSpPr>
          <p:cNvPr id="7" name="Learning-body">
            <a:extLst xmlns:a="http://schemas.openxmlformats.org/drawingml/2006/main">
              <a:ext uri="{FF2B5EF4-FFF2-40B4-BE49-F238E27FC236}">
                <a16:creationId xmlns:a16="http://schemas.microsoft.com/office/drawing/2014/main" id="{7AB5868A-6495-486F-A50D-C03F1821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28575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Class spaces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Lesson notes and homework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Progress views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Practice Dojo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Personalised Missions</a:t>
            </a:r>
          </a:p>
        </p:txBody>
      </p:sp>
      <p:sp>
        <p:nvSpPr>
          <p:cNvPr id="8" name="Operations-panel">
            <a:extLst xmlns:a="http://schemas.openxmlformats.org/drawingml/2006/main">
              <a:ext uri="{FF2B5EF4-FFF2-40B4-BE49-F238E27FC236}">
                <a16:creationId xmlns:a16="http://schemas.microsoft.com/office/drawing/2014/main" id="{6B98199E-AC4B-49C5-B528-0C0A9D92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9" name="Operations-label">
            <a:extLst xmlns:a="http://schemas.openxmlformats.org/drawingml/2006/main">
              <a:ext uri="{FF2B5EF4-FFF2-40B4-BE49-F238E27FC236}">
                <a16:creationId xmlns:a16="http://schemas.microsoft.com/office/drawing/2014/main" id="{D5D81960-D0BA-4949-A465-8E9DD7C6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Operations</a:t>
            </a:r>
          </a:p>
        </p:txBody>
      </p:sp>
      <p:sp>
        <p:nvSpPr>
          <p:cNvPr id="10" name="Operations-body">
            <a:extLst xmlns:a="http://schemas.openxmlformats.org/drawingml/2006/main">
              <a:ext uri="{FF2B5EF4-FFF2-40B4-BE49-F238E27FC236}">
                <a16:creationId xmlns:a16="http://schemas.microsoft.com/office/drawing/2014/main" id="{4134FCC0-D71E-4031-AAAE-4AC3A7D6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28575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Tutor onboarding and verification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Availability and recurring bookings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Payments and payouts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Reviews and disputes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Safeguarding workflows</a:t>
            </a:r>
          </a:p>
        </p:txBody>
      </p:sp>
      <p:sp>
        <p:nvSpPr>
          <p:cNvPr id="11" name="Experience-panel">
            <a:extLst xmlns:a="http://schemas.openxmlformats.org/drawingml/2006/main">
              <a:ext uri="{FF2B5EF4-FFF2-40B4-BE49-F238E27FC236}">
                <a16:creationId xmlns:a16="http://schemas.microsoft.com/office/drawing/2014/main" id="{8BD06B60-8D88-42E2-B364-02878523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04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12" name="Experience-label">
            <a:extLst xmlns:a="http://schemas.openxmlformats.org/drawingml/2006/main">
              <a:ext uri="{FF2B5EF4-FFF2-40B4-BE49-F238E27FC236}">
                <a16:creationId xmlns:a16="http://schemas.microsoft.com/office/drawing/2014/main" id="{ABE339A8-2D39-43CE-8888-52DD3A37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622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Experience</a:t>
            </a:r>
          </a:p>
        </p:txBody>
      </p:sp>
      <p:sp>
        <p:nvSpPr>
          <p:cNvPr id="13" name="Experience-body">
            <a:extLst xmlns:a="http://schemas.openxmlformats.org/drawingml/2006/main">
              <a:ext uri="{FF2B5EF4-FFF2-40B4-BE49-F238E27FC236}">
                <a16:creationId xmlns:a16="http://schemas.microsoft.com/office/drawing/2014/main" id="{9E3D53D6-2F59-4A1F-AEAB-8D43DD3E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81300"/>
            <a:ext cx="26670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Student, parent, tutor, and admin dashboards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Messaging and announcements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Live classroom and whiteboard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Support and guided onboarding</a:t>
            </a:r>
          </a:p>
        </p:txBody>
      </p:sp>
      <p:sp>
        <p:nvSpPr>
          <p:cNvPr id="14" name="evidence-caveat">
            <a:extLst xmlns:a="http://schemas.openxmlformats.org/drawingml/2006/main">
              <a:ext uri="{FF2B5EF4-FFF2-40B4-BE49-F238E27FC236}">
                <a16:creationId xmlns:a16="http://schemas.microsoft.com/office/drawing/2014/main" id="{FB451650-9568-4AE6-B47B-E66652A8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093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6370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086"/>
                </a:solidFill>
                <a:latin typeface="Helvetica Neue"/>
                <a:ea typeface="Helvetica Neue"/>
                <a:cs typeface="Helvetica Neue"/>
              </a:rPr>
              <a:t>Repository evidence describes implemented product surfaces; live usage and production behaviour still require validation.</a:t>
            </a:r>
          </a:p>
        </p:txBody>
      </p:sp>
    </p:spTree>
    <p:extLst>
      <p:ext uri="{BB962C8B-B14F-4D97-AF65-F5344CB8AC3E}">
        <p14:creationId xmlns:p14="http://schemas.microsoft.com/office/powerpoint/2010/main" val="9799091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542FD527-419A-4F22-9912-6607676F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973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973E6"/>
                </a:solidFill>
                <a:latin typeface="Helvetica Neue"/>
                <a:ea typeface="Helvetica Neue"/>
                <a:cs typeface="Helvetica Neue"/>
              </a:rPr>
              <a:t>SCIENCEDOJO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9E5A96-8AF5-4904-8AEF-63C1DCB5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625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Tutoring drives the core model; software expands lifetime value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D48C3057-4251-48FD-B2AB-CB6F5DB1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4F534D8-F588-4798-932F-0B21AB63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6370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08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Core: tutoring-panel">
            <a:extLst xmlns:a="http://schemas.openxmlformats.org/drawingml/2006/main">
              <a:ext uri="{FF2B5EF4-FFF2-40B4-BE49-F238E27FC236}">
                <a16:creationId xmlns:a16="http://schemas.microsoft.com/office/drawing/2014/main" id="{6E360265-FED8-446B-9DCC-CEAF6FBE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33337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6" name="Core: tutoring-label">
            <a:extLst xmlns:a="http://schemas.openxmlformats.org/drawingml/2006/main">
              <a:ext uri="{FF2B5EF4-FFF2-40B4-BE49-F238E27FC236}">
                <a16:creationId xmlns:a16="http://schemas.microsoft.com/office/drawing/2014/main" id="{8CF8391B-14E5-4A40-97BA-1D8988A7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Core: tutoring</a:t>
            </a:r>
          </a:p>
        </p:txBody>
      </p:sp>
      <p:sp>
        <p:nvSpPr>
          <p:cNvPr id="7" name="Core: tutoring-body">
            <a:extLst xmlns:a="http://schemas.openxmlformats.org/drawingml/2006/main">
              <a:ext uri="{FF2B5EF4-FFF2-40B4-BE49-F238E27FC236}">
                <a16:creationId xmlns:a16="http://schemas.microsoft.com/office/drawing/2014/main" id="{77F468FA-3429-4C68-9FFF-F16C046F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29527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Commission on completed tutoring bookings. The current platform setting defaults to 25%, with tutors setting their hourly rates.</a:t>
            </a:r>
          </a:p>
        </p:txBody>
      </p:sp>
      <p:sp>
        <p:nvSpPr>
          <p:cNvPr id="8" name="Adjacent: FocusDojo-panel">
            <a:extLst xmlns:a="http://schemas.openxmlformats.org/drawingml/2006/main">
              <a:ext uri="{FF2B5EF4-FFF2-40B4-BE49-F238E27FC236}">
                <a16:creationId xmlns:a16="http://schemas.microsoft.com/office/drawing/2014/main" id="{052C1384-D45C-49A3-BB6C-6E14FF7C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52650"/>
            <a:ext cx="33337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BFB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9" name="Adjacent: FocusDojo-label">
            <a:extLst xmlns:a="http://schemas.openxmlformats.org/drawingml/2006/main">
              <a:ext uri="{FF2B5EF4-FFF2-40B4-BE49-F238E27FC236}">
                <a16:creationId xmlns:a16="http://schemas.microsoft.com/office/drawing/2014/main" id="{E61B51B9-1E0C-487B-B858-4DF0CCF1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241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Adjacent: FocusDojo</a:t>
            </a:r>
          </a:p>
        </p:txBody>
      </p:sp>
      <p:sp>
        <p:nvSpPr>
          <p:cNvPr id="10" name="Adjacent: FocusDojo-body">
            <a:extLst xmlns:a="http://schemas.openxmlformats.org/drawingml/2006/main">
              <a:ext uri="{FF2B5EF4-FFF2-40B4-BE49-F238E27FC236}">
                <a16:creationId xmlns:a16="http://schemas.microsoft.com/office/drawing/2014/main" id="{F4FAD969-6344-4C82-B707-DCF597A7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43200"/>
            <a:ext cx="29527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Free and included access support acquisition and retention. FocusDojo Pro is listed at €4.99/month or €39/year.</a:t>
            </a:r>
          </a:p>
        </p:txBody>
      </p:sp>
      <p:sp>
        <p:nvSpPr>
          <p:cNvPr id="11" name="Future: partnerships-panel">
            <a:extLst xmlns:a="http://schemas.openxmlformats.org/drawingml/2006/main">
              <a:ext uri="{FF2B5EF4-FFF2-40B4-BE49-F238E27FC236}">
                <a16:creationId xmlns:a16="http://schemas.microsoft.com/office/drawing/2014/main" id="{8285DC37-3E32-4D4E-94B2-A566A9EF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52650"/>
            <a:ext cx="31432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9525">
            <a:solidFill>
              <a:srgbClr val="C8D3E2"/>
            </a:solidFill>
            <a:prstDash val="solid"/>
          </a:ln>
        </p:spPr>
      </p:sp>
      <p:sp>
        <p:nvSpPr>
          <p:cNvPr id="12" name="Future: partnerships-label">
            <a:extLst xmlns:a="http://schemas.openxmlformats.org/drawingml/2006/main">
              <a:ext uri="{FF2B5EF4-FFF2-40B4-BE49-F238E27FC236}">
                <a16:creationId xmlns:a16="http://schemas.microsoft.com/office/drawing/2014/main" id="{093D0DEC-2DB5-4AD5-B7A8-D17BEE8D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241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Future: partnerships</a:t>
            </a:r>
          </a:p>
        </p:txBody>
      </p:sp>
      <p:sp>
        <p:nvSpPr>
          <p:cNvPr id="13" name="Future: partnerships-body">
            <a:extLst xmlns:a="http://schemas.openxmlformats.org/drawingml/2006/main">
              <a:ext uri="{FF2B5EF4-FFF2-40B4-BE49-F238E27FC236}">
                <a16:creationId xmlns:a16="http://schemas.microsoft.com/office/drawing/2014/main" id="{1550B6EA-69F2-46DF-B05B-2E6E5F82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43200"/>
            <a:ext cx="27622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Potential school, university, or regional programme pilots can package tutoring, structured practice, and measurable support.</a:t>
            </a:r>
          </a:p>
        </p:txBody>
      </p:sp>
      <p:sp>
        <p:nvSpPr>
          <p:cNvPr id="14" name="business-principle">
            <a:extLst xmlns:a="http://schemas.openxmlformats.org/drawingml/2006/main">
              <a:ext uri="{FF2B5EF4-FFF2-40B4-BE49-F238E27FC236}">
                <a16:creationId xmlns:a16="http://schemas.microsoft.com/office/drawing/2014/main" id="{8015822F-BFBB-4588-9295-1420CEF3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040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Commercial principle: keep the trusted tutor relationship central and layer recurring software revenue around it.</a:t>
            </a:r>
          </a:p>
        </p:txBody>
      </p:sp>
    </p:spTree>
    <p:extLst>
      <p:ext uri="{BB962C8B-B14F-4D97-AF65-F5344CB8AC3E}">
        <p14:creationId xmlns:p14="http://schemas.microsoft.com/office/powerpoint/2010/main" val="10655527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3429C01D-2C54-40A6-B469-20A6BB8E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973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973E6"/>
                </a:solidFill>
                <a:latin typeface="Helvetica Neue"/>
                <a:ea typeface="Helvetica Neue"/>
                <a:cs typeface="Helvetica Neue"/>
              </a:rPr>
              <a:t>SCIENCEDOJO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110A10-FEE0-4E96-9EAC-17997D6C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625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A focused entry strategy turns trust into repeat learning relationships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9B6D5FD5-DA14-41AF-AC8C-9D06A82C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D67A3A2-8E4F-4C71-9760-02952EA0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6370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08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Acquire-label">
            <a:extLst xmlns:a="http://schemas.openxmlformats.org/drawingml/2006/main">
              <a:ext uri="{FF2B5EF4-FFF2-40B4-BE49-F238E27FC236}">
                <a16:creationId xmlns:a16="http://schemas.microsoft.com/office/drawing/2014/main" id="{7E2D6BAD-9F63-4926-BA13-08DC6948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Acquire</a:t>
            </a:r>
          </a:p>
        </p:txBody>
      </p:sp>
      <p:sp>
        <p:nvSpPr>
          <p:cNvPr id="6" name="Acquire-body">
            <a:extLst xmlns:a="http://schemas.openxmlformats.org/drawingml/2006/main">
              <a:ext uri="{FF2B5EF4-FFF2-40B4-BE49-F238E27FC236}">
                <a16:creationId xmlns:a16="http://schemas.microsoft.com/office/drawing/2014/main" id="{14C8E69D-3317-4E17-B6E6-9F1B613F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514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SEO learning content, free assessments, tutor referrals, Practice Dojo, and community entry points.</a:t>
            </a:r>
          </a:p>
        </p:txBody>
      </p:sp>
      <p:sp>
        <p:nvSpPr>
          <p:cNvPr id="7" name="Convert-label">
            <a:extLst xmlns:a="http://schemas.openxmlformats.org/drawingml/2006/main">
              <a:ext uri="{FF2B5EF4-FFF2-40B4-BE49-F238E27FC236}">
                <a16:creationId xmlns:a16="http://schemas.microsoft.com/office/drawing/2014/main" id="{86780245-8DC9-441A-91FA-2559598E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145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Convert</a:t>
            </a:r>
          </a:p>
        </p:txBody>
      </p:sp>
      <p:sp>
        <p:nvSpPr>
          <p:cNvPr id="8" name="Convert-body">
            <a:extLst xmlns:a="http://schemas.openxmlformats.org/drawingml/2006/main">
              <a:ext uri="{FF2B5EF4-FFF2-40B4-BE49-F238E27FC236}">
                <a16:creationId xmlns:a16="http://schemas.microsoft.com/office/drawing/2014/main" id="{10B3543A-8E2D-4184-A88B-149C2985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52700"/>
            <a:ext cx="514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Route a clear learning need into the first paid lesson with the right verified tutor.</a:t>
            </a:r>
          </a:p>
        </p:txBody>
      </p:sp>
      <p:sp>
        <p:nvSpPr>
          <p:cNvPr id="9" name="Retain-label">
            <a:extLst xmlns:a="http://schemas.openxmlformats.org/drawingml/2006/main">
              <a:ext uri="{FF2B5EF4-FFF2-40B4-BE49-F238E27FC236}">
                <a16:creationId xmlns:a16="http://schemas.microsoft.com/office/drawing/2014/main" id="{A400E3E9-7C79-4800-AE7F-BB3F511B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Retain</a:t>
            </a:r>
          </a:p>
        </p:txBody>
      </p:sp>
      <p:sp>
        <p:nvSpPr>
          <p:cNvPr id="10" name="Retain-body">
            <a:extLst xmlns:a="http://schemas.openxmlformats.org/drawingml/2006/main">
              <a:ext uri="{FF2B5EF4-FFF2-40B4-BE49-F238E27FC236}">
                <a16:creationId xmlns:a16="http://schemas.microsoft.com/office/drawing/2014/main" id="{CC5BB7F1-52F8-40CE-A59E-77328F89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514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Use recurring bookings, lesson continuity, Missions, and parent visibility to sustain momentum.</a:t>
            </a:r>
          </a:p>
        </p:txBody>
      </p:sp>
      <p:sp>
        <p:nvSpPr>
          <p:cNvPr id="11" name="Partner-label">
            <a:extLst xmlns:a="http://schemas.openxmlformats.org/drawingml/2006/main">
              <a:ext uri="{FF2B5EF4-FFF2-40B4-BE49-F238E27FC236}">
                <a16:creationId xmlns:a16="http://schemas.microsoft.com/office/drawing/2014/main" id="{BE73ACD4-EA66-4F79-87CB-673D8F0D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Partner</a:t>
            </a:r>
          </a:p>
        </p:txBody>
      </p:sp>
      <p:sp>
        <p:nvSpPr>
          <p:cNvPr id="12" name="Partner-body">
            <a:extLst xmlns:a="http://schemas.openxmlformats.org/drawingml/2006/main">
              <a:ext uri="{FF2B5EF4-FFF2-40B4-BE49-F238E27FC236}">
                <a16:creationId xmlns:a16="http://schemas.microsoft.com/office/drawing/2014/main" id="{382C6383-6DF4-4084-9EED-4FE4F0FE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33900"/>
            <a:ext cx="514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Test university and regional channels that can supply tutors, pilot learners, and institutional credibility.</a:t>
            </a:r>
          </a:p>
        </p:txBody>
      </p:sp>
    </p:spTree>
    <p:extLst>
      <p:ext uri="{BB962C8B-B14F-4D97-AF65-F5344CB8AC3E}">
        <p14:creationId xmlns:p14="http://schemas.microsoft.com/office/powerpoint/2010/main" val="9212537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72F30132-2012-45A3-A522-A7A40D0E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973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973E6"/>
                </a:solidFill>
                <a:latin typeface="Helvetica Neue"/>
                <a:ea typeface="Helvetica Neue"/>
                <a:cs typeface="Helvetica Neue"/>
              </a:rPr>
              <a:t>SCIENCEDOJO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C3311F-99A9-4A0F-8152-6E0322C4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625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The moat is the connected learning record around a trusted tutor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B117F85A-5546-41FA-AEF9-4DF9A290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4C2DFBC-E79B-456C-9840-69BD8DCE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6370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086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moat-points">
            <a:extLst xmlns:a="http://schemas.openxmlformats.org/drawingml/2006/main">
              <a:ext uri="{FF2B5EF4-FFF2-40B4-BE49-F238E27FC236}">
                <a16:creationId xmlns:a16="http://schemas.microsoft.com/office/drawing/2014/main" id="{026FD093-4A57-42F6-9ADD-8DDCB67F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5810250" cy="382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spcAft>
                <a:spcPts val="18"/>
              </a:spcAft>
              <a:buNone/>
              <a:defRPr sz="150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Relationship context</a:t>
            </a:r>
            <a:r>
              <a:rPr sz="150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
Tutor knowledge accumulates across sessions instead of resetting.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18"/>
              </a:spcAft>
              <a:buNone/>
              <a:defRPr sz="150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Structured learning data</a:t>
            </a:r>
            <a:r>
              <a:rPr sz="150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
Assessment, lesson, homework, practice, and progress signals can inform the next action.</a:t>
            </a:r>
          </a:p>
          <a:p xmlns:a="http://schemas.openxmlformats.org/drawingml/2006/main">
            <a:pPr>
              <a:lnSpc>
                <a:spcPct val="108000"/>
              </a:lnSpc>
              <a:spcAft>
                <a:spcPts val="18"/>
              </a:spcAft>
              <a:buNone/>
              <a:defRPr sz="150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Operational trust</a:t>
            </a:r>
            <a:r>
              <a:rPr sz="150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
Verification, safeguarding, payments, and support create a stronger service layer.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Human-first AI</a:t>
            </a:r>
            <a:r>
              <a:rPr sz="150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
AI supports practice and follow-through without becoming the brand or replacing the tutor.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1a6f5b9dc4284"/>
          <a:srcRect xmlns:a="http://schemas.openxmlformats.org/drawingml/2006/main" l="0" t="7595" r="0" b="75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2038350"/>
            <a:ext cx="4514850" cy="3829050"/>
          </a:xfrm>
          <a:prstGeom xmlns:a="http://schemas.openxmlformats.org/drawingml/2006/main" prst="roundRect">
            <a:avLst>
              <a:gd name="adj" fmla="val 3483"/>
            </a:avLst>
          </a:prstGeom>
        </p:spPr>
      </p:pic>
    </p:spTree>
    <p:extLst>
      <p:ext uri="{BB962C8B-B14F-4D97-AF65-F5344CB8AC3E}">
        <p14:creationId xmlns:p14="http://schemas.microsoft.com/office/powerpoint/2010/main" val="2901908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B979D41C-7D1D-4635-ABF2-A059E452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973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973E6"/>
                </a:solidFill>
                <a:latin typeface="Helvetica Neue"/>
                <a:ea typeface="Helvetica Neue"/>
                <a:cs typeface="Helvetica Neue"/>
              </a:rPr>
              <a:t>SCIENCEDOJO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68F880-2228-4495-B569-ECD98451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625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Now validate conversion, retention, outcomes, and partner fit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97317CBA-9091-4D26-B5DA-DF76402F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32A4DD6-42D6-40CD-9B8B-7B00C94A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6370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37086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roadmap-1-time">
            <a:extLst xmlns:a="http://schemas.openxmlformats.org/drawingml/2006/main">
              <a:ext uri="{FF2B5EF4-FFF2-40B4-BE49-F238E27FC236}">
                <a16:creationId xmlns:a16="http://schemas.microsoft.com/office/drawing/2014/main" id="{7B3D1D98-C0A2-443E-A7B8-FE2B2963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973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73E6"/>
                </a:solidFill>
                <a:latin typeface="Helvetica Neue"/>
                <a:ea typeface="Helvetica Neue"/>
                <a:cs typeface="Helvetica Neue"/>
              </a:rPr>
              <a:t>NEXT 90 DAYS</a:t>
            </a:r>
          </a:p>
        </p:txBody>
      </p:sp>
      <p:sp>
        <p:nvSpPr>
          <p:cNvPr id="6" name="roadmap-1-title">
            <a:extLst xmlns:a="http://schemas.openxmlformats.org/drawingml/2006/main">
              <a:ext uri="{FF2B5EF4-FFF2-40B4-BE49-F238E27FC236}">
                <a16:creationId xmlns:a16="http://schemas.microsoft.com/office/drawing/2014/main" id="{E8DFD3FC-4825-4E4C-97F3-8F2EB138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Instrument the funnel</a:t>
            </a:r>
          </a:p>
        </p:txBody>
      </p:sp>
      <p:sp>
        <p:nvSpPr>
          <p:cNvPr id="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B1BA4E93-5EF9-4AB8-BFB1-4194F5E6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admap-1-body">
            <a:extLst xmlns:a="http://schemas.openxmlformats.org/drawingml/2006/main">
              <a:ext uri="{FF2B5EF4-FFF2-40B4-BE49-F238E27FC236}">
                <a16:creationId xmlns:a16="http://schemas.microsoft.com/office/drawing/2014/main" id="{55EBA8DE-2BBD-4CFD-A5CD-C9D6C15D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3238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Measure assessment-to-first-lesson conversion, booking completion, and tutor activation.</a:t>
            </a:r>
          </a:p>
        </p:txBody>
      </p:sp>
      <p:sp>
        <p:nvSpPr>
          <p:cNvPr id="9" name="roadmap-2-time">
            <a:extLst xmlns:a="http://schemas.openxmlformats.org/drawingml/2006/main">
              <a:ext uri="{FF2B5EF4-FFF2-40B4-BE49-F238E27FC236}">
                <a16:creationId xmlns:a16="http://schemas.microsoft.com/office/drawing/2014/main" id="{DEECA12F-1F5E-44B6-A21B-78D885CB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669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973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73E6"/>
                </a:solidFill>
                <a:latin typeface="Helvetica Neue"/>
                <a:ea typeface="Helvetica Neue"/>
                <a:cs typeface="Helvetica Neue"/>
              </a:rPr>
              <a:t>3-6 MONTHS</a:t>
            </a:r>
          </a:p>
        </p:txBody>
      </p:sp>
      <p:sp>
        <p:nvSpPr>
          <p:cNvPr id="10" name="roadmap-2-title">
            <a:extLst xmlns:a="http://schemas.openxmlformats.org/drawingml/2006/main">
              <a:ext uri="{FF2B5EF4-FFF2-40B4-BE49-F238E27FC236}">
                <a16:creationId xmlns:a16="http://schemas.microsoft.com/office/drawing/2014/main" id="{8A4CB0A9-A7D9-4508-8E96-0A3D0B17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76225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Prove learning continuity</a:t>
            </a:r>
          </a:p>
        </p:txBody>
      </p:sp>
      <p:sp>
        <p:nvSpPr>
          <p:cNvPr id="11" name="accent-rule">
            <a:extLst xmlns:a="http://schemas.openxmlformats.org/drawingml/2006/main">
              <a:ext uri="{FF2B5EF4-FFF2-40B4-BE49-F238E27FC236}">
                <a16:creationId xmlns:a16="http://schemas.microsoft.com/office/drawing/2014/main" id="{C562AFBD-965A-42E1-8A4A-5D7CECED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385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oadmap-2-body">
            <a:extLst xmlns:a="http://schemas.openxmlformats.org/drawingml/2006/main">
              <a:ext uri="{FF2B5EF4-FFF2-40B4-BE49-F238E27FC236}">
                <a16:creationId xmlns:a16="http://schemas.microsoft.com/office/drawing/2014/main" id="{0D13BBCE-6AE4-4F47-85C3-1AF5FFD4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962400"/>
            <a:ext cx="3238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Track repeat bookings, homework and Mission completion, and parent-reported confidence.</a:t>
            </a:r>
          </a:p>
        </p:txBody>
      </p:sp>
      <p:sp>
        <p:nvSpPr>
          <p:cNvPr id="13" name="roadmap-3-time">
            <a:extLst xmlns:a="http://schemas.openxmlformats.org/drawingml/2006/main">
              <a:ext uri="{FF2B5EF4-FFF2-40B4-BE49-F238E27FC236}">
                <a16:creationId xmlns:a16="http://schemas.microsoft.com/office/drawing/2014/main" id="{BC9139F8-3921-4444-94DF-E4474B19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669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973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973E6"/>
                </a:solidFill>
                <a:latin typeface="Helvetica Neue"/>
                <a:ea typeface="Helvetica Neue"/>
                <a:cs typeface="Helvetica Neue"/>
              </a:rPr>
              <a:t>6-12 MONTHS</a:t>
            </a:r>
          </a:p>
        </p:txBody>
      </p:sp>
      <p:sp>
        <p:nvSpPr>
          <p:cNvPr id="14" name="roadmap-3-title">
            <a:extLst xmlns:a="http://schemas.openxmlformats.org/drawingml/2006/main">
              <a:ext uri="{FF2B5EF4-FFF2-40B4-BE49-F238E27FC236}">
                <a16:creationId xmlns:a16="http://schemas.microsoft.com/office/drawing/2014/main" id="{798393B3-5031-4E0E-8A77-4C5912E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6225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243E"/>
                </a:solidFill>
                <a:latin typeface="Helvetica Neue"/>
                <a:ea typeface="Helvetica Neue"/>
                <a:cs typeface="Helvetica Neue"/>
              </a:rPr>
              <a:t>Test a partner channel</a:t>
            </a:r>
          </a:p>
        </p:txBody>
      </p:sp>
      <p:sp>
        <p:nvSpPr>
          <p:cNvPr id="1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05D9E572-6CB6-4979-9ED0-15A001B9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385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admap-3-body">
            <a:extLst xmlns:a="http://schemas.openxmlformats.org/drawingml/2006/main">
              <a:ext uri="{FF2B5EF4-FFF2-40B4-BE49-F238E27FC236}">
                <a16:creationId xmlns:a16="http://schemas.microsoft.com/office/drawing/2014/main" id="{08790191-BC9C-4D9F-AE2D-67661594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62400"/>
            <a:ext cx="3238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2233"/>
                </a:solidFill>
                <a:latin typeface="Helvetica Neue"/>
                <a:ea typeface="Helvetica Neue"/>
                <a:cs typeface="Helvetica Neue"/>
              </a:rPr>
              <a:t>Run a bounded university or regional pilot with clear learner, tutor, and operational success criteria.</a:t>
            </a:r>
          </a:p>
        </p:txBody>
      </p:sp>
      <p:sp>
        <p:nvSpPr>
          <p:cNvPr id="17" name="roadmap-caveat">
            <a:extLst xmlns:a="http://schemas.openxmlformats.org/drawingml/2006/main">
              <a:ext uri="{FF2B5EF4-FFF2-40B4-BE49-F238E27FC236}">
                <a16:creationId xmlns:a16="http://schemas.microsoft.com/office/drawing/2014/main" id="{FF520CE9-3181-45F2-9167-68DB4AF3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370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086"/>
                </a:solidFill>
                <a:latin typeface="Helvetica Neue"/>
                <a:ea typeface="Helvetica Neue"/>
                <a:cs typeface="Helvetica Neue"/>
              </a:rPr>
              <a:t>No traction or outcome figures are claimed until they are measured and verified.</a:t>
            </a:r>
          </a:p>
        </p:txBody>
      </p:sp>
    </p:spTree>
    <p:extLst>
      <p:ext uri="{BB962C8B-B14F-4D97-AF65-F5344CB8AC3E}">
        <p14:creationId xmlns:p14="http://schemas.microsoft.com/office/powerpoint/2010/main" val="13363463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8783AE53-3D44-4686-9D88-CA68C98B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FC4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FC4C9"/>
                </a:solidFill>
                <a:latin typeface="Helvetica Neue"/>
                <a:ea typeface="Helvetica Neue"/>
                <a:cs typeface="Helvetica Neue"/>
              </a:rPr>
              <a:t>SCIENCEDOJO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B6C25F80-C5B5-4FF8-AE00-312EFAFB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Help turn a strong product foundation into a validated learning business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8DFA1596-1058-4C2C-A7DF-570D3A86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C4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ing-label">
            <a:extLst xmlns:a="http://schemas.openxmlformats.org/drawingml/2006/main">
              <a:ext uri="{FF2B5EF4-FFF2-40B4-BE49-F238E27FC236}">
                <a16:creationId xmlns:a16="http://schemas.microsoft.com/office/drawing/2014/main" id="{62BBF34C-CD09-4EEB-A78D-6A868A60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We are looking for</a:t>
            </a:r>
          </a:p>
        </p:txBody>
      </p:sp>
      <p:sp>
        <p:nvSpPr>
          <p:cNvPr id="5" name="closing-asks">
            <a:extLst xmlns:a="http://schemas.openxmlformats.org/drawingml/2006/main">
              <a:ext uri="{FF2B5EF4-FFF2-40B4-BE49-F238E27FC236}">
                <a16:creationId xmlns:a16="http://schemas.microsoft.com/office/drawing/2014/main" id="{C7B80E47-21BF-4CAC-B7E4-052C8FC0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82867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Strategic mentoring on focus, positioning, and validation.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2"/>
              </a:spcAft>
              <a:buNone/>
              <a:def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Access to a bounded pilot environment and honest user feedback.</a:t>
            </a:r>
          </a:p>
          <a:p xmlns:a="http://schemas.openxmlformats.org/drawingml/2006/main">
            <a:pPr marL="24" indent="-12">
              <a:lnSpc>
                <a:spcPct val="108000"/>
              </a:lnSpc>
              <a:buNone/>
              <a:def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Introductions to education, tutoring, and regional ecosystem partners.</a:t>
            </a:r>
          </a:p>
        </p:txBody>
      </p:sp>
      <p:sp>
        <p:nvSpPr>
          <p:cNvPr id="6" name="closing-tagline">
            <a:extLst xmlns:a="http://schemas.openxmlformats.org/drawingml/2006/main">
              <a:ext uri="{FF2B5EF4-FFF2-40B4-BE49-F238E27FC236}">
                <a16:creationId xmlns:a16="http://schemas.microsoft.com/office/drawing/2014/main" id="{3C9D2495-C6DC-471C-B126-FB72C27D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FC4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FC4C9"/>
                </a:solidFill>
                <a:latin typeface="Helvetica Neue"/>
                <a:ea typeface="Helvetica Neue"/>
                <a:cs typeface="Helvetica Neue"/>
              </a:rPr>
              <a:t>Human expertise. Structured continuity. Visible progress.</a:t>
            </a:r>
          </a:p>
        </p:txBody>
      </p:sp>
      <p:sp>
        <p:nvSpPr>
          <p:cNvPr id="7" name="closing-wordmark">
            <a:extLst xmlns:a="http://schemas.openxmlformats.org/drawingml/2006/main">
              <a:ext uri="{FF2B5EF4-FFF2-40B4-BE49-F238E27FC236}">
                <a16:creationId xmlns:a16="http://schemas.microsoft.com/office/drawing/2014/main" id="{6E826B09-FBBC-44F3-8DE8-C55FA9A9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5626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science dojo.</a:t>
            </a:r>
          </a:p>
        </p:txBody>
      </p:sp>
    </p:spTree>
    <p:extLst>
      <p:ext uri="{BB962C8B-B14F-4D97-AF65-F5344CB8AC3E}">
        <p14:creationId xmlns:p14="http://schemas.microsoft.com/office/powerpoint/2010/main" val="7606776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2026-09-01T11:17:25.1380000Z</dcterms:created>
  <dcterms:modified xsi:type="dcterms:W3CDTF">2026-09-01T11:17:25.1380000Z</dcterms:modified>
</coreProperties>
</file>